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71" r:id="rId7"/>
    <p:sldId id="259" r:id="rId8"/>
    <p:sldId id="266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68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88532" autoAdjust="0"/>
  </p:normalViewPr>
  <p:slideViewPr>
    <p:cSldViewPr snapToGrid="0">
      <p:cViewPr varScale="1">
        <p:scale>
          <a:sx n="77" d="100"/>
          <a:sy n="77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4B32F-15E8-4F3B-AE6D-633BD888659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E6E3E-C1D0-40B0-824C-AF4CE980EA9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Apache là tên của một tổ chức phần mềm mã ngồn mở</a:t>
            </a:r>
            <a:endParaRPr lang="en-US"/>
          </a:p>
          <a:p>
            <a:r>
              <a:rPr lang="en-US"/>
              <a:t>Hadoop là 1 nền tảng mã nguồn mở do apache phát triển, dung để lưu trữ dữ liệu và xử lý dữ liệu lớn (big data) trên nhiều máy tính khác nhau.</a:t>
            </a:r>
            <a:endParaRPr lang="en-US"/>
          </a:p>
          <a:p>
            <a:r>
              <a:rPr lang="en-US"/>
              <a:t>node : </a:t>
            </a:r>
            <a:r>
              <a:rPr lang="en-US" altLang="en-US"/>
              <a:t>Khi dữ liệu </a:t>
            </a:r>
            <a:r>
              <a:rPr lang="en-US" altLang="en-US"/>
              <a:t>đư</a:t>
            </a:r>
            <a:r>
              <a:rPr lang="en-US" altLang="en-US"/>
              <a:t>ợc </a:t>
            </a:r>
            <a:r>
              <a:rPr lang="en-US" altLang="en-US"/>
              <a:t>đư</a:t>
            </a:r>
            <a:r>
              <a:rPr lang="en-US" altLang="en-US"/>
              <a:t>a vào, nó </a:t>
            </a:r>
            <a:r>
              <a:rPr lang="en-US" altLang="en-US"/>
              <a:t>đư</a:t>
            </a:r>
            <a:r>
              <a:rPr lang="en-US" altLang="en-US"/>
              <a:t>ợc chia thành các khối, sao chép nhiều lần và phân phối trên các DataNode khác nhau. Khi truy cập, máy khách sẽ liên hệ với NameNode </a:t>
            </a:r>
            <a:r>
              <a:rPr lang="en-US" altLang="en-US"/>
              <a:t>đ</a:t>
            </a:r>
            <a:r>
              <a:rPr lang="en-US" altLang="en-US"/>
              <a:t>ể lấy vị trí các khối, sau </a:t>
            </a:r>
            <a:r>
              <a:rPr lang="en-US" altLang="en-US"/>
              <a:t>đ</a:t>
            </a:r>
            <a:r>
              <a:rPr lang="en-US" altLang="en-US"/>
              <a:t>ó </a:t>
            </a:r>
            <a:r>
              <a:rPr lang="en-US" altLang="en-US"/>
              <a:t>đ</a:t>
            </a:r>
            <a:r>
              <a:rPr lang="en-US" altLang="en-US"/>
              <a:t>ọc trực tiếp từ các DataNode song song, giúp xử l</a:t>
            </a:r>
            <a:r>
              <a:rPr lang="en-US" altLang="en-US"/>
              <a:t>ý</a:t>
            </a:r>
            <a:r>
              <a:rPr lang="en-US" altLang="en-US"/>
              <a:t> dữ liệu lớn hiệu quả và chịu lỗi cao. 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E6E3E-C1D0-40B0-824C-AF4CE980EA9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E6E3E-C1D0-40B0-824C-AF4CE980EA9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 tả: Một HDFS chỉ có **chính xác một NameNode**  NameNode này chứa siêu dữ liệu (metadata) chỉ định vị trí các khối dữ liệu của tệp trên các DataNode **Hậu quả: LÀ CÓ THỂ DẪN ĐẾN toàn bộ hệ thống tệp có **một điểm lỗi duy nhất** [3]. Nếu NameNode thất bại hoặc không thể truy cập, **toàn bộ hệ thống tệp sẽ trở nên vô dụng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E6E3E-C1D0-40B0-824C-AF4CE980EA9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75719-FA2D-4F70-82E6-82C9B08F51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7BFD1-0829-4DF4-9690-913BD3B1BB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75719-FA2D-4F70-82E6-82C9B08F51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7BFD1-0829-4DF4-9690-913BD3B1BB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75719-FA2D-4F70-82E6-82C9B08F51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7BFD1-0829-4DF4-9690-913BD3B1BB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75719-FA2D-4F70-82E6-82C9B08F511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7BFD1-0829-4DF4-9690-913BD3B1BB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75719-FA2D-4F70-82E6-82C9B08F5116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7BFD1-0829-4DF4-9690-913BD3B1BB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75719-FA2D-4F70-82E6-82C9B08F5116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7BFD1-0829-4DF4-9690-913BD3B1BB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75719-FA2D-4F70-82E6-82C9B08F5116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7BFD1-0829-4DF4-9690-913BD3B1BB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75719-FA2D-4F70-82E6-82C9B08F511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7BFD1-0829-4DF4-9690-913BD3B1BB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75719-FA2D-4F70-82E6-82C9B08F511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7BFD1-0829-4DF4-9690-913BD3B1BB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75719-FA2D-4F70-82E6-82C9B08F51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7BFD1-0829-4DF4-9690-913BD3B1BB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75719-FA2D-4F70-82E6-82C9B08F51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7BFD1-0829-4DF4-9690-913BD3B1BB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75719-FA2D-4F70-82E6-82C9B08F51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7BFD1-0829-4DF4-9690-913BD3B1BB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88870" y="494665"/>
            <a:ext cx="7309485" cy="1910080"/>
          </a:xfrm>
        </p:spPr>
        <p:txBody>
          <a:bodyPr>
            <a:normAutofit fontScale="90000"/>
          </a:bodyPr>
          <a:lstStyle/>
          <a:p>
            <a:r>
              <a:rPr lang="en-US" altLang="vi-VN" sz="4445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BÁO CÁO</a:t>
            </a:r>
            <a:r>
              <a:rPr lang="vi-VN" altLang="en-US" sz="4445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vi-VN" sz="4445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ĐỒ ÁN CƠ SỞ NGÀNH</a:t>
            </a:r>
            <a:br>
              <a:rPr lang="vi-VN" altLang="en-US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br>
              <a:rPr lang="vi-VN" altLang="en-US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endParaRPr lang="en-US" altLang="vi-VN" sz="25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0835" y="319088"/>
            <a:ext cx="1422400" cy="1422400"/>
          </a:xfrm>
          <a:prstGeom prst="rect">
            <a:avLst/>
          </a:prstGeom>
          <a:noFill/>
        </p:spPr>
      </p:pic>
      <p:sp>
        <p:nvSpPr>
          <p:cNvPr id="5" name="Rectangles 6"/>
          <p:cNvSpPr/>
          <p:nvPr/>
        </p:nvSpPr>
        <p:spPr>
          <a:xfrm>
            <a:off x="-5080" y="2585720"/>
            <a:ext cx="12202160" cy="16865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30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ỨNG DỤNG DANH SÁCH LIÊN KẾT ĐƠN ĐỂ VIẾT CHƯƠNG TRÌNH XÉT HỌC BỔNG CHO SINH VIÊN THEO HỌC KỲ</a:t>
            </a:r>
            <a:endParaRPr lang="en-US" altLang="en-US" sz="3000" b="1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9750" y="4542265"/>
            <a:ext cx="45170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altLang="en-US" sz="1800" b="1"/>
              <a:t>Giảng Viên</a:t>
            </a:r>
            <a:r>
              <a:rPr lang="en-US" altLang="vi-VN" sz="1800" b="1"/>
              <a:t> Hướng Dẫn</a:t>
            </a:r>
            <a:r>
              <a:rPr lang="vi-VN" altLang="en-US" sz="1800" b="1"/>
              <a:t> : </a:t>
            </a:r>
            <a:r>
              <a:rPr lang="en-US" altLang="vi-VN" sz="1800" b="1"/>
              <a:t>Lê Minh Tự</a:t>
            </a:r>
            <a:endParaRPr lang="en-US" altLang="vi-VN" sz="1800" b="1"/>
          </a:p>
        </p:txBody>
      </p:sp>
      <p:sp>
        <p:nvSpPr>
          <p:cNvPr id="9" name="TextBox 8"/>
          <p:cNvSpPr txBox="1"/>
          <p:nvPr/>
        </p:nvSpPr>
        <p:spPr>
          <a:xfrm>
            <a:off x="319750" y="5181583"/>
            <a:ext cx="28521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/>
              <a:t>Họ Tên : Huỳnh Minh Khang</a:t>
            </a:r>
            <a:endParaRPr lang="en-US" b="1"/>
          </a:p>
          <a:p>
            <a:pPr algn="l"/>
            <a:r>
              <a:rPr lang="en-US" b="1"/>
              <a:t>Mã Lớp : DA23TTC</a:t>
            </a:r>
            <a:endParaRPr lang="en-US" b="1"/>
          </a:p>
          <a:p>
            <a:pPr algn="l"/>
            <a:r>
              <a:rPr lang="en-US" b="1"/>
              <a:t>MSSV : 110123110</a:t>
            </a:r>
            <a:endParaRPr 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Nội dung trình bày</a:t>
            </a:r>
            <a:br>
              <a:rPr lang="vi-V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vi-VN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Chương </a:t>
            </a:r>
            <a:r>
              <a:rPr lang="vi-VN" altLang="en-US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1. </a:t>
            </a:r>
            <a:r>
              <a:rPr lang="en-US" altLang="vi-VN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Lý do chọn đề tài</a:t>
            </a:r>
            <a:endParaRPr lang="en-US" altLang="vi-VN" b="1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Arial" panose="020B0604020202020204" pitchFamily="34" charset="0"/>
              <a:sym typeface="+mn-ea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vi-VN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Chương </a:t>
            </a:r>
            <a:r>
              <a:rPr lang="en-US" altLang="vi-VN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2. Mục tiêu nghiên cứu</a:t>
            </a:r>
            <a:endParaRPr lang="vi-VN" altLang="en-US" b="1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Arial" panose="020B0604020202020204" pitchFamily="34" charset="0"/>
              <a:sym typeface="+mn-ea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vi-VN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Chương </a:t>
            </a:r>
            <a:r>
              <a:rPr lang="en-US" altLang="vi-VN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3</a:t>
            </a:r>
            <a:r>
              <a:rPr lang="vi-VN" altLang="en-US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. </a:t>
            </a:r>
            <a:r>
              <a:rPr lang="en-US" altLang="vi-VN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Thực hiện hóa nghiên cứu đề tài</a:t>
            </a:r>
            <a:endParaRPr lang="vi-VN" altLang="en-US" b="1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Arial" panose="020B0604020202020204" pitchFamily="34" charset="0"/>
              <a:sym typeface="+mn-ea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vi-VN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Chương </a:t>
            </a:r>
            <a:r>
              <a:rPr lang="en-US" altLang="vi-VN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4</a:t>
            </a:r>
            <a:r>
              <a:rPr lang="vi-VN" altLang="en-US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. </a:t>
            </a:r>
            <a:r>
              <a:rPr lang="en-US" altLang="vi-VN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Kết quả nghiên cứu</a:t>
            </a:r>
            <a:endParaRPr lang="en-US" altLang="en-US" b="1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Arial" panose="020B0604020202020204" pitchFamily="34" charset="0"/>
              <a:sym typeface="+mn-ea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vi-VN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Chương </a:t>
            </a:r>
            <a:r>
              <a:rPr lang="en-US" altLang="vi-VN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5</a:t>
            </a:r>
            <a:r>
              <a:rPr lang="vi-VN" altLang="en-US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. </a:t>
            </a:r>
            <a:r>
              <a:rPr lang="en-US" altLang="vi-VN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  <a:sym typeface="+mn-ea"/>
              </a:rPr>
              <a:t>Kết luận và hướng phát triển</a:t>
            </a:r>
            <a:endParaRPr lang="en-US" altLang="vi-VN" sz="2400" b="1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250" y="1406525"/>
            <a:ext cx="10495915" cy="4351655"/>
          </a:xfrm>
        </p:spPr>
        <p:txBody>
          <a:bodyPr>
            <a:normAutofit/>
          </a:bodyPr>
          <a:lstStyle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Học bổng là 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ộng lực quan trọng 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ối với sinh viên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Công tác xét học bổng cần xử l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 nhiều dữ liệu sinh viên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Quản l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 thủ công dễ sai sót, mất thời gian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Cần áp dụng cấu trúc dữ liệu 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ể tự 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ộng hóa quá trình xét học bổng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0879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vi-V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US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Lý do chọn đề tài ?</a:t>
            </a:r>
            <a:br>
              <a:rPr lang="vi-V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br>
              <a:rPr lang="vi-VN" altLang="en-US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  <a:sym typeface="+mn-ea"/>
              </a:rPr>
            </a:b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vi-V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</a:t>
            </a:r>
            <a:r>
              <a:rPr lang="vi-V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r>
              <a:rPr lang="en-US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Mục tiêu nghiên cứu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2.1 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Nghiên cứu cấu trúc dữ liệu danh sách liên kết 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ơn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Ứng dụng danh sách liên kết 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ơn vào bài toán xét học bổng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Xây dựng ch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ơng trình quản l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 sinh viên theo học kỳ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ánh giá hiệu quả của giải pháp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vi-V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Đối tượng và phạm vi nghiên cứu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255" y="1691005"/>
            <a:ext cx="10229215" cy="4785995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endParaRPr lang="en-US" altLang="en-US" sz="6665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r>
              <a:rPr lang="en-US" altLang="en-US" sz="8000" b="1">
                <a:latin typeface="Times New Roman" panose="02020603050405020304" charset="0"/>
                <a:cs typeface="Times New Roman" panose="02020603050405020304" charset="0"/>
              </a:rPr>
              <a:t>Cấu trúc dữ liệu danh sách liên kết </a:t>
            </a:r>
            <a:r>
              <a:rPr lang="" altLang="en-US" sz="8000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8000" b="1">
                <a:latin typeface="Times New Roman" panose="02020603050405020304" charset="0"/>
                <a:cs typeface="Times New Roman" panose="02020603050405020304" charset="0"/>
              </a:rPr>
              <a:t>ơn</a:t>
            </a:r>
            <a:endParaRPr lang="en-US" altLang="en-US" sz="8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endParaRPr lang="en-US" altLang="en-US" sz="8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r>
              <a:rPr lang="en-US" altLang="en-US" sz="8000" b="1">
                <a:latin typeface="Times New Roman" panose="02020603050405020304" charset="0"/>
                <a:cs typeface="Times New Roman" panose="02020603050405020304" charset="0"/>
              </a:rPr>
              <a:t>Ch</a:t>
            </a:r>
            <a:r>
              <a:rPr lang="" altLang="en-US" sz="80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8000" b="1">
                <a:latin typeface="Times New Roman" panose="02020603050405020304" charset="0"/>
                <a:cs typeface="Times New Roman" panose="02020603050405020304" charset="0"/>
              </a:rPr>
              <a:t>ơng trình xét học bổng cho sinh viên</a:t>
            </a:r>
            <a:endParaRPr lang="en-US" altLang="en-US" sz="8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endParaRPr lang="en-US" altLang="en-US" sz="8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r>
              <a:rPr lang="en-US" altLang="en-US" sz="8000" b="1">
                <a:latin typeface="Times New Roman" panose="02020603050405020304" charset="0"/>
                <a:cs typeface="Times New Roman" panose="02020603050405020304" charset="0"/>
              </a:rPr>
              <a:t>Phạm vi</a:t>
            </a:r>
            <a:endParaRPr lang="en-US" altLang="en-US" sz="8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endParaRPr lang="en-US" altLang="en-US" sz="8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r>
              <a:rPr lang="en-US" altLang="en-US" sz="8000" b="1">
                <a:latin typeface="Times New Roman" panose="02020603050405020304" charset="0"/>
                <a:cs typeface="Times New Roman" panose="02020603050405020304" charset="0"/>
              </a:rPr>
              <a:t>Xét học bổng theo từng học kỳ</a:t>
            </a:r>
            <a:endParaRPr lang="en-US" altLang="en-US" sz="8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endParaRPr lang="en-US" altLang="en-US" sz="8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r>
              <a:rPr lang="en-US" altLang="en-US" sz="8000" b="1">
                <a:latin typeface="Times New Roman" panose="02020603050405020304" charset="0"/>
                <a:cs typeface="Times New Roman" panose="02020603050405020304" charset="0"/>
              </a:rPr>
              <a:t>Chạy trên môi tr</a:t>
            </a:r>
            <a:r>
              <a:rPr lang="" altLang="en-US" sz="80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8000" b="1">
                <a:latin typeface="Times New Roman" panose="02020603050405020304" charset="0"/>
                <a:cs typeface="Times New Roman" panose="02020603050405020304" charset="0"/>
              </a:rPr>
              <a:t>ờng console (C/C++)</a:t>
            </a:r>
            <a:endParaRPr lang="en-US" altLang="en-US" sz="8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endParaRPr lang="en-US" altLang="en-US" sz="8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r>
              <a:rPr lang="en-US" altLang="en-US" sz="8000" b="1">
                <a:latin typeface="Times New Roman" panose="02020603050405020304" charset="0"/>
                <a:cs typeface="Times New Roman" panose="02020603050405020304" charset="0"/>
              </a:rPr>
              <a:t>Không triển khai hệ thống mạng hay CSDL lớn</a:t>
            </a:r>
            <a:endParaRPr lang="en-US" altLang="en-US" sz="8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vi-V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vi-V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Tổng quan về danh sách liên kết đơn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5635"/>
            <a:ext cx="9728200" cy="4483099"/>
          </a:xfrm>
        </p:spPr>
        <p:txBody>
          <a:bodyPr>
            <a:normAutofit fontScale="90000" lnSpcReduction="20000"/>
          </a:bodyPr>
          <a:lstStyle/>
          <a:p>
            <a:pPr>
              <a:buFont typeface="Wingdings" panose="05000000000000000000" charset="0"/>
              <a:buChar char="q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Là cấu trúc dữ liệu tuyến tính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Mỗi phần tử là một node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Mỗi node gồm: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Dữ liệu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Con trỏ trỏ 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ến node kế tiếp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q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Chỉ duyệt dữ liệu theo một chiều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vi-V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5</a:t>
            </a:r>
            <a:r>
              <a:rPr lang="vi-V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r>
              <a:rPr lang="en-US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Tổng quan về danh sách liên kết đơn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algn="just"/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Là cấu trúc dữ liệu tuyến tính</a:t>
            </a:r>
            <a:endParaRPr lang="en-US" alt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Mỗi phần tử là một node</a:t>
            </a:r>
            <a:endParaRPr lang="en-US" alt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Mỗi node gồm:</a:t>
            </a:r>
            <a:endParaRPr lang="en-US" alt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Dữ liệu</a:t>
            </a:r>
            <a:endParaRPr lang="en-US" alt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Con trỏ trỏ </a:t>
            </a:r>
            <a:r>
              <a:rPr lang="" altLang="en-US" sz="3200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ến node kế tiếp</a:t>
            </a:r>
            <a:endParaRPr lang="en-US" alt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Chỉ duyệt dữ liệu theo một chiều</a:t>
            </a:r>
            <a:endParaRPr lang="en-US" alt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vi-V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6</a:t>
            </a:r>
            <a:r>
              <a:rPr lang="vi-V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r>
              <a:rPr lang="en-US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Ưu điểm của danh sách liên kết đơn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Quản l</a:t>
            </a:r>
            <a:r>
              <a:rPr lang="" altLang="en-US" sz="3600" b="1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 dữ liệu </a:t>
            </a:r>
            <a:r>
              <a:rPr lang="" altLang="en-US" sz="3600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ộng, không cố </a:t>
            </a:r>
            <a:r>
              <a:rPr lang="" altLang="en-US" sz="3600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ịnh kích th</a:t>
            </a:r>
            <a:r>
              <a:rPr lang="" altLang="en-US" sz="36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ớc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Dễ dàng thêm, xóa phần tử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Phù hợp với danh sách sinh viên thay </a:t>
            </a:r>
            <a:r>
              <a:rPr lang="" altLang="en-US" sz="3600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ổi theo học kỳ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Tiết kiệm bộ nhớ so với danh sách liên kết kép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vi-V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7</a:t>
            </a:r>
            <a:r>
              <a:rPr lang="vi-V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r>
              <a:rPr lang="en-US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Yêu cầu bài toán xét học bổng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L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u trữ thông tin sinh viên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Cập nhật 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iểm trung bình học kỳ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Xét 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iều kiện học bổng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Hiển thị danh sách sinh viên 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ạt học bổng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Tìm kiếm và chỉnh sửa thông tin sinh viên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vi-V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8</a:t>
            </a:r>
            <a:r>
              <a:rPr lang="vi-V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r>
              <a:rPr lang="en-US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Phân tích dữ liệu sinh viên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Mỗi sinh viên gồm: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Mã số sinh viên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Họ và tên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Khoa / lớp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iểm trung bình học kỳ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Trạng thái học bổng (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ạt / không 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ạt)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vi-V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9</a:t>
            </a:r>
            <a:r>
              <a:rPr lang="vi-V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r>
              <a:rPr lang="en-US" altLang="vi-V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Các chức năng chính của chương trình</a:t>
            </a:r>
            <a:r>
              <a:rPr lang="en-US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856605" cy="4351655"/>
          </a:xfrm>
        </p:spPr>
        <p:txBody>
          <a:bodyPr>
            <a:noAutofit/>
          </a:bodyPr>
          <a:p>
            <a:pPr marL="342900" indent="-342900" algn="l">
              <a:buAutoNum type="arabicPeriod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Khởi tạo danh sách sinh viên                                    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Thêm sinh viên mới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Cập nhật thông tin &amp; 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iểm học kỳ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Xóa sinh viên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Xét học bổng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Tìm kiếm sinh viên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Hiển thị danh sách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Thoát chương trình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endParaRPr lang="en-US" altLang="en-US" sz="12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endParaRPr lang="en-US" alt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vi-V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10</a:t>
            </a:r>
            <a:r>
              <a:rPr lang="vi-V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r>
              <a:rPr lang="en-US" altLang="vi-V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Kiểm thử và đánh giá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Kiểm thử với nhiều số l</a:t>
            </a:r>
            <a:r>
              <a:rPr lang="" altLang="en-US" sz="36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ợng sinh viên khác nhau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Kiểm tra các chức n</a:t>
            </a:r>
            <a:r>
              <a:rPr lang="" altLang="en-US" sz="3600" b="1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ng thêm, xóa, sửa, tìm kiếm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Kết quả: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Ch</a:t>
            </a:r>
            <a:r>
              <a:rPr lang="" altLang="en-US" sz="3600" b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ơng trình hoạt </a:t>
            </a:r>
            <a:r>
              <a:rPr lang="" altLang="en-US" sz="3600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ộng ổn </a:t>
            </a:r>
            <a:r>
              <a:rPr lang="" altLang="en-US" sz="3600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ịnh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Dữ liệu xử l</a:t>
            </a:r>
            <a:r>
              <a:rPr lang="" altLang="en-US" sz="3600" b="1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 chính xác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Danh sách liên kết </a:t>
            </a:r>
            <a:r>
              <a:rPr lang="" altLang="en-US" sz="3600" b="1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ơn phù hợp bài toán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02460" y="1825625"/>
            <a:ext cx="838644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vi-V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Kết luận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>
              <a:buFont typeface="Wingdings" panose="05000000000000000000" charset="0"/>
              <a:buChar char="Ø"/>
            </a:pPr>
            <a:r>
              <a:rPr lang="" altLang="en-US" b="1"/>
              <a:t>Đ</a:t>
            </a:r>
            <a:r>
              <a:rPr lang="en-US" altLang="en-US" b="1"/>
              <a:t>ề tài </a:t>
            </a:r>
            <a:r>
              <a:rPr lang="" altLang="en-US" b="1"/>
              <a:t>đ</a:t>
            </a:r>
            <a:r>
              <a:rPr lang="en-US" altLang="en-US" b="1"/>
              <a:t>ã nghiên cứu và ứng dụng thành công danh sách liên kết </a:t>
            </a:r>
            <a:r>
              <a:rPr lang="" altLang="en-US" b="1"/>
              <a:t>đ</a:t>
            </a:r>
            <a:r>
              <a:rPr lang="en-US" altLang="en-US" b="1"/>
              <a:t>ơn vào việc xây dựng ch</a:t>
            </a:r>
            <a:r>
              <a:rPr lang="" altLang="en-US" b="1"/>
              <a:t>ư</a:t>
            </a:r>
            <a:r>
              <a:rPr lang="en-US" altLang="en-US" b="1"/>
              <a:t>ơng trình xét học bổng cho sinh viên theo học kỳ.</a:t>
            </a:r>
            <a:endParaRPr lang="en-US" altLang="en-US" b="1"/>
          </a:p>
          <a:p>
            <a:pPr>
              <a:buFont typeface="Wingdings" panose="05000000000000000000" charset="0"/>
              <a:buChar char="Ø"/>
            </a:pPr>
            <a:endParaRPr lang="en-US" altLang="en-US" b="1"/>
          </a:p>
          <a:p>
            <a:pPr>
              <a:buFont typeface="Wingdings" panose="05000000000000000000" charset="0"/>
              <a:buChar char="Ø"/>
            </a:pPr>
            <a:r>
              <a:rPr lang="en-US" altLang="en-US" b="1"/>
              <a:t>Ch</a:t>
            </a:r>
            <a:r>
              <a:rPr lang="" altLang="en-US" b="1"/>
              <a:t>ư</a:t>
            </a:r>
            <a:r>
              <a:rPr lang="en-US" altLang="en-US" b="1"/>
              <a:t>ơng trình </a:t>
            </a:r>
            <a:r>
              <a:rPr lang="" altLang="en-US" b="1"/>
              <a:t>đ</a:t>
            </a:r>
            <a:r>
              <a:rPr lang="en-US" altLang="en-US" b="1"/>
              <a:t>áp ứng các chức n</a:t>
            </a:r>
            <a:r>
              <a:rPr lang="" altLang="en-US" b="1"/>
              <a:t>ă</a:t>
            </a:r>
            <a:r>
              <a:rPr lang="en-US" altLang="en-US" b="1"/>
              <a:t>ng cơ bản nh</a:t>
            </a:r>
            <a:r>
              <a:rPr lang="" altLang="en-US" b="1"/>
              <a:t>ư</a:t>
            </a:r>
            <a:r>
              <a:rPr lang="en-US" altLang="en-US" b="1"/>
              <a:t> quản l</a:t>
            </a:r>
            <a:r>
              <a:rPr lang="" altLang="en-US" b="1"/>
              <a:t>ý</a:t>
            </a:r>
            <a:r>
              <a:rPr lang="en-US" altLang="en-US" b="1"/>
              <a:t> sinh viên, cập nhật </a:t>
            </a:r>
            <a:r>
              <a:rPr lang="" altLang="en-US" b="1"/>
              <a:t>đ</a:t>
            </a:r>
            <a:r>
              <a:rPr lang="en-US" altLang="en-US" b="1"/>
              <a:t>iểm học kỳ và xét </a:t>
            </a:r>
            <a:r>
              <a:rPr lang="" altLang="en-US" b="1"/>
              <a:t>đ</a:t>
            </a:r>
            <a:r>
              <a:rPr lang="en-US" altLang="en-US" b="1"/>
              <a:t>iều kiện học bổng một cách chính xác, linh hoạt.</a:t>
            </a:r>
            <a:endParaRPr lang="en-US" altLang="en-US" b="1"/>
          </a:p>
          <a:p>
            <a:pPr>
              <a:buFont typeface="Wingdings" panose="05000000000000000000" charset="0"/>
              <a:buChar char="Ø"/>
            </a:pPr>
            <a:endParaRPr lang="en-US" altLang="en-US" b="1"/>
          </a:p>
          <a:p>
            <a:pPr>
              <a:buFont typeface="Wingdings" panose="05000000000000000000" charset="0"/>
              <a:buChar char="Ø"/>
            </a:pPr>
            <a:r>
              <a:rPr lang="en-US" altLang="en-US" b="1"/>
              <a:t>Việc sử dụng danh sách liên kết </a:t>
            </a:r>
            <a:r>
              <a:rPr lang="" altLang="en-US" b="1"/>
              <a:t>đ</a:t>
            </a:r>
            <a:r>
              <a:rPr lang="en-US" altLang="en-US" b="1"/>
              <a:t>ơn giúp quản l</a:t>
            </a:r>
            <a:r>
              <a:rPr lang="" altLang="en-US" b="1"/>
              <a:t>ý</a:t>
            </a:r>
            <a:r>
              <a:rPr lang="en-US" altLang="en-US" b="1"/>
              <a:t> dữ liệu sinh viên hiệu quả, </a:t>
            </a:r>
            <a:r>
              <a:rPr lang="" altLang="en-US" b="1"/>
              <a:t>đ</a:t>
            </a:r>
            <a:r>
              <a:rPr lang="en-US" altLang="en-US" b="1"/>
              <a:t>ặc biệt phù hợp với dữ liệu thay </a:t>
            </a:r>
            <a:r>
              <a:rPr lang="" altLang="en-US" b="1"/>
              <a:t>đ</a:t>
            </a:r>
            <a:r>
              <a:rPr lang="en-US" altLang="en-US" b="1"/>
              <a:t>ổi theo từng học kỳ.</a:t>
            </a:r>
            <a:endParaRPr lang="en-US" altLang="en-US" b="1"/>
          </a:p>
          <a:p>
            <a:pPr>
              <a:buFont typeface="Wingdings" panose="05000000000000000000" charset="0"/>
              <a:buChar char="Ø"/>
            </a:pPr>
            <a:endParaRPr lang="en-US" altLang="en-US" b="1"/>
          </a:p>
          <a:p>
            <a:pPr>
              <a:buFont typeface="Wingdings" panose="05000000000000000000" charset="0"/>
              <a:buChar char="Ø"/>
            </a:pPr>
            <a:r>
              <a:rPr lang="" altLang="en-US" b="1"/>
              <a:t>Đ</a:t>
            </a:r>
            <a:r>
              <a:rPr lang="en-US" altLang="en-US" b="1"/>
              <a:t>ề tài góp phần củng cố kiến thức về cấu trúc dữ liệu, </a:t>
            </a:r>
            <a:r>
              <a:rPr lang="" altLang="en-US" b="1"/>
              <a:t>đ</a:t>
            </a:r>
            <a:r>
              <a:rPr lang="en-US" altLang="en-US" b="1"/>
              <a:t>ồng thời nâng cao kỹ n</a:t>
            </a:r>
            <a:r>
              <a:rPr lang="" altLang="en-US" b="1"/>
              <a:t>ă</a:t>
            </a:r>
            <a:r>
              <a:rPr lang="en-US" altLang="en-US" b="1"/>
              <a:t>ng phân tích, thiết kế và lập trình cho sinh viên.</a:t>
            </a:r>
            <a:endParaRPr lang="en-US" altLang="en-US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80986"/>
            <a:ext cx="10515600" cy="826392"/>
          </a:xfrm>
        </p:spPr>
        <p:txBody>
          <a:bodyPr/>
          <a:lstStyle/>
          <a:p>
            <a:pPr algn="ctr"/>
            <a:r>
              <a:rPr lang="en-US" b="1">
                <a:solidFill>
                  <a:schemeClr val="accent1"/>
                </a:solidFill>
                <a:latin typeface="+mn-lt"/>
              </a:rPr>
              <a:t>Cảm ơn các bạn đã lắng nghe!</a:t>
            </a:r>
            <a:endParaRPr lang="en-US" b="1">
              <a:solidFill>
                <a:schemeClr val="accent1"/>
              </a:solidFill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2985</Words>
  <Application>WPS Presentation</Application>
  <PresentationFormat>Widescreen</PresentationFormat>
  <Paragraphs>138</Paragraphs>
  <Slides>15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Calibri Light</vt:lpstr>
      <vt:lpstr>Calibri</vt:lpstr>
      <vt:lpstr>Microsoft YaHei</vt:lpstr>
      <vt:lpstr>Arial Unicode MS</vt:lpstr>
      <vt:lpstr>Wingdings</vt:lpstr>
      <vt:lpstr>Office Theme</vt:lpstr>
      <vt:lpstr>BÁO CÁO MÔN HỌC  ĐIỆN TOÁN ĐÁM MÂY</vt:lpstr>
      <vt:lpstr>Nội dung trình bày </vt:lpstr>
      <vt:lpstr>1. HDFS là gì ?  </vt:lpstr>
      <vt:lpstr>2. Cấu trúc và vai trò của HDFS </vt:lpstr>
      <vt:lpstr>3. Ưu điểm của HDFS </vt:lpstr>
      <vt:lpstr>4. Nhược điểm của HDFS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 Kết luận </vt:lpstr>
      <vt:lpstr>Cảm ơn các bạn đã lắng nghe!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Windows</dc:creator>
  <cp:lastModifiedBy>Khang Huỳnh Minh</cp:lastModifiedBy>
  <cp:revision>4</cp:revision>
  <dcterms:created xsi:type="dcterms:W3CDTF">2025-10-15T12:36:00Z</dcterms:created>
  <dcterms:modified xsi:type="dcterms:W3CDTF">2026-01-04T17:35:28Z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B0AA8108B2FE4FF6932A137040E1E5E6_13</vt:lpwstr>
  </property>
  <property fmtid="{D5CDD505-2E9C-101B-9397-08002B2CF9AE}" pid="3" name="KSOProductBuildVer">
    <vt:lpwstr>1033-12.2.0.23196</vt:lpwstr>
  </property>
</Properties>
</file>